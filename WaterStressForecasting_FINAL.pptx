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Water Stress Score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A234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cat>
            <c:multiLvlStrRef>
              <c:f>Sheet1!$A$2:$A$16</c:f>
              <c:multiLvlStrCache>
                <c:ptCount val="15"/>
                <c:lvl>
                  <c:pt idx="0">
                    <c:v>Yemen</c:v>
                  </c:pt>
                  <c:pt idx="1">
                    <c:v>Somalia</c:v>
                  </c:pt>
                  <c:pt idx="2">
                    <c:v>Pakistan</c:v>
                  </c:pt>
                  <c:pt idx="3">
                    <c:v>Niger</c:v>
                  </c:pt>
                  <c:pt idx="4">
                    <c:v>Sudan</c:v>
                  </c:pt>
                  <c:pt idx="5">
                    <c:v>Egypt</c:v>
                  </c:pt>
                  <c:pt idx="6">
                    <c:v>Iraq</c:v>
                  </c:pt>
                  <c:pt idx="7">
                    <c:v>India</c:v>
                  </c:pt>
                  <c:pt idx="8">
                    <c:v>Iran</c:v>
                  </c:pt>
                  <c:pt idx="9">
                    <c:v>China</c:v>
                  </c:pt>
                  <c:pt idx="10">
                    <c:v>Saudi</c:v>
                  </c:pt>
                  <c:pt idx="11">
                    <c:v>Brazil</c:v>
                  </c:pt>
                  <c:pt idx="12">
                    <c:v>Australia</c:v>
                  </c:pt>
                  <c:pt idx="13">
                    <c:v>USA</c:v>
                  </c:pt>
                  <c:pt idx="14">
                    <c:v>Germany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4.5</c:v>
                </c:pt>
                <c:pt idx="1">
                  <c:v>4.6</c:v>
                </c:pt>
                <c:pt idx="2">
                  <c:v>4.2</c:v>
                </c:pt>
                <c:pt idx="3">
                  <c:v>4</c:v>
                </c:pt>
                <c:pt idx="4">
                  <c:v>4.1</c:v>
                </c:pt>
                <c:pt idx="5">
                  <c:v>3.5</c:v>
                </c:pt>
                <c:pt idx="6">
                  <c:v>3.1</c:v>
                </c:pt>
                <c:pt idx="7">
                  <c:v>3.8</c:v>
                </c:pt>
                <c:pt idx="8">
                  <c:v>2.4</c:v>
                </c:pt>
                <c:pt idx="9">
                  <c:v>1.8</c:v>
                </c:pt>
                <c:pt idx="10">
                  <c:v>2.1</c:v>
                </c:pt>
                <c:pt idx="11">
                  <c:v>0.8</c:v>
                </c:pt>
                <c:pt idx="12">
                  <c:v>1.1</c:v>
                </c:pt>
                <c:pt idx="13">
                  <c:v>0.9</c:v>
                </c:pt>
                <c:pt idx="14">
                  <c:v>0.7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A234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A234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F9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-548640"/>
            <a:ext cx="2194560" cy="2194560"/>
          </a:xfrm>
          <a:prstGeom prst="ellipse">
            <a:avLst/>
          </a:prstGeom>
          <a:solidFill>
            <a:srgbClr val="38BDF8">
              <a:alpha val="12000"/>
            </a:srgbClr>
          </a:solidFill>
          <a:ln w="12700">
            <a:solidFill>
              <a:srgbClr val="38BDF8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5029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MARQUEE TRAINING PROJECT  | 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4048" y="96012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Water Stress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84048" y="1664208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System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84048" y="254203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ML-Powered Prediction of Water Scarcity &amp; Conflict Risk Across Regions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84048" y="3154680"/>
            <a:ext cx="2286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3337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 Member 1 (Backend &amp; ML)   |   Member 2 (Dashboard)   |   Member 3 (Database)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3977640"/>
            <a:ext cx="7772400" cy="658368"/>
          </a:xfrm>
          <a:prstGeom prst="rect">
            <a:avLst>
              <a:gd name="adj" fmla="val 8333"/>
            </a:avLst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40233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water runs out — conflict begins.  Our system predicts it before it happens."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Water Stress Is a Global Crisis in 2026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63040"/>
            <a:ext cx="27432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7276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Billion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202996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face water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scarcity annually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4408" y="146304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64408" y="1463040"/>
            <a:ext cx="27432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57276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55848" y="202996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armed conflicts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 in water-scarce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08776" y="146304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08776" y="1463040"/>
            <a:ext cx="27432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0216" y="157276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300216" y="202996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demand will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 supply by 2030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2999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Flashpoints — 2026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" y="3401568"/>
            <a:ext cx="8503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4290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🇮🇳🇵🇰  India vs Pakistan — Indus Waters Treaty suspended. Nuclear-armed rivals using rivers as leverage.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822192"/>
            <a:ext cx="8503920" cy="347472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8496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🇪🇹🇪🇬  Ethiopia vs Egypt — 10-year dispute over Nile dam water rights, no binding agreement reached.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4242816"/>
            <a:ext cx="8503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270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🇸🇩  Sudan — Water scarcity directly worsening the ongoing civil war; 11.8M people displaced.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PROJECT DEFINITION &amp; OBJECTIVES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&amp; Why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353312"/>
            <a:ext cx="8503920" cy="8229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89888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system that ingests country-level environmental data (rainfall, population, GDP, temperature), trains a Random Forest ML model, predicts water stress scores from 0–5, and maps conflict risk — providing early warning before crises occur.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0040" y="2331720"/>
            <a:ext cx="2011680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331720"/>
            <a:ext cx="20116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2423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1480" y="2852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320040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water stress levels using ML trained on real environmental indicators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2331720"/>
            <a:ext cx="2011680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2331720"/>
            <a:ext cx="20116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42032" y="2423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560320" y="2852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 Early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60320" y="320040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high-risk regions before water scarcity escalates into conflict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2331720"/>
            <a:ext cx="2011680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2331720"/>
            <a:ext cx="20116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90872" y="2423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709160" y="2852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09160" y="320040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all data and predictions in a structured SQLite relational database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66560" y="2331720"/>
            <a:ext cx="2011680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66560" y="2331720"/>
            <a:ext cx="20116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39712" y="2423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858000" y="2852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0" y="320040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 + dashboard showing stress scores and risk levels per country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METHODOLOGY &amp; APPROACH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Built It — Step by Step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344168" y="1901952"/>
            <a:ext cx="347472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99032" y="1737360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▶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1353312"/>
            <a:ext cx="120700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353312"/>
            <a:ext cx="1207008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37160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92608" y="1920240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2608" y="2395728"/>
            <a:ext cx="107899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countries × 6 years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features per record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120+ data points total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807208" y="1901952"/>
            <a:ext cx="347472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62072" y="1737360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▶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91640" y="1353312"/>
            <a:ext cx="120700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691640" y="1353312"/>
            <a:ext cx="1207008" cy="502920"/>
          </a:xfrm>
          <a:prstGeom prst="rect">
            <a:avLst/>
          </a:prstGeom>
          <a:solidFill>
            <a:srgbClr val="0D4F8B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91640" y="137160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755648" y="1920240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Storage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755648" y="2395728"/>
            <a:ext cx="107899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normalized tables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Countries, Readings,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270248" y="1901952"/>
            <a:ext cx="347472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25112" y="1737360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▶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54680" y="1353312"/>
            <a:ext cx="120700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1353312"/>
            <a:ext cx="1207008" cy="502920"/>
          </a:xfrm>
          <a:prstGeom prst="rect">
            <a:avLst/>
          </a:prstGeom>
          <a:solidFill>
            <a:srgbClr val="0D4F8B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54680" y="137160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218688" y="1920240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18688" y="2395728"/>
            <a:ext cx="107899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DataFrames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train-test split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733288" y="1901952"/>
            <a:ext cx="347472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88152" y="1737360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▶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17720" y="1353312"/>
            <a:ext cx="120700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17720" y="1353312"/>
            <a:ext cx="1207008" cy="502920"/>
          </a:xfrm>
          <a:prstGeom prst="rect">
            <a:avLst/>
          </a:prstGeom>
          <a:solidFill>
            <a:srgbClr val="0D4F8B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137160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681728" y="1920240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Training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681728" y="2395728"/>
            <a:ext cx="107899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model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decision trees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library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196328" y="1901952"/>
            <a:ext cx="347472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51192" y="1737360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▶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080760" y="1353312"/>
            <a:ext cx="120700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80760" y="1353312"/>
            <a:ext cx="1207008" cy="502920"/>
          </a:xfrm>
          <a:prstGeom prst="rect">
            <a:avLst/>
          </a:prstGeom>
          <a:solidFill>
            <a:srgbClr val="0D4F8B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80760" y="137160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144768" y="1920240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144768" y="2395728"/>
            <a:ext cx="107899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stress 0–5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risk 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Per-country output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543800" y="1353312"/>
            <a:ext cx="120700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543800" y="1353312"/>
            <a:ext cx="1207008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43800" y="137160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7607808" y="1920240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607808" y="2395728"/>
            <a:ext cx="107899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web app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results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TECHNICAL KNOWLEDGE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Model — Random Forest Explained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411480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087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Random Forest?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840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asking 100 experts </a:t>
            </a:r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independently predict water stress for a country.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expert is a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they look at rainfall, population, GDP, and temperature and make a prediction.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answer is the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all 100 predictions.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it far more accurate than any single model.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3822192"/>
            <a:ext cx="41148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858768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Random Forest for this project?  Small dataset (120 rows) → deep learning is overkill. RF works perfectly on structured data and is explainable.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138988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Input Features  →  1 Prediction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828800"/>
            <a:ext cx="3474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8653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🌧️  Rainfall (mm)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21031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precipitation per region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2487168"/>
            <a:ext cx="3474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25237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Population (M)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27614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population in millions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3145536"/>
            <a:ext cx="3474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3182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GDP per Capita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34198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strength indicator (USD)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3803904"/>
            <a:ext cx="3474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38404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 Temperature (°C)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407822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annual temperature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120640" y="446227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</a:rPr>
              <a:t>↓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4754880" y="4096512"/>
            <a:ext cx="347472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41148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Water Stress Score  (0.0 – 5.0)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⚔️   Conflict Risk  (0% – 100%)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Predictions — 20 Countries Analysed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1325880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897880" y="13258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897880" y="1755648"/>
            <a:ext cx="2926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97880" y="1755648"/>
            <a:ext cx="64008" cy="7132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35040" y="18013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CRITICAL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035040" y="20848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score above 3.5 — Yemen, Somalia, Pakistan lead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897880" y="2578608"/>
            <a:ext cx="2926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97880" y="2578608"/>
            <a:ext cx="6400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35040" y="26243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035040" y="29077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Yemen &amp; Somalia have active conflicts now — model correctly flags them highest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97880" y="3401568"/>
            <a:ext cx="2926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897880" y="3401568"/>
            <a:ext cx="64008" cy="7132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35040" y="34472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R²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035040" y="37307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 on test data — strong for a 120-row dataset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897880" y="4224528"/>
            <a:ext cx="2926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897880" y="4224528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35040" y="42702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035040" y="45537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rainfall + high population = highest stress. Confirmed by feature importance.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DATABASE DESIGN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Relational Database — 3 Tables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1389888"/>
            <a:ext cx="283464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389888"/>
            <a:ext cx="283464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3560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countries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993392"/>
            <a:ext cx="265176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2029968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INTEGER  PK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2340864"/>
            <a:ext cx="26517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2377440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TEXT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2688336"/>
            <a:ext cx="265176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" y="2724912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  TEXT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3035808"/>
            <a:ext cx="26517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3072384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latitude  REAL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3383280"/>
            <a:ext cx="265176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" y="3419856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longitude  REAL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4462272"/>
            <a:ext cx="2834640" cy="384048"/>
          </a:xfrm>
          <a:prstGeom prst="rect">
            <a:avLst/>
          </a:prstGeom>
          <a:solidFill>
            <a:srgbClr val="0A2342">
              <a:alpha val="12000"/>
            </a:srgbClr>
          </a:solidFill>
          <a:ln w="12700">
            <a:solidFill>
              <a:srgbClr val="0A2342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44805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reference table. One row per country.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0" y="1389888"/>
            <a:ext cx="283464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1389888"/>
            <a:ext cx="2834640" cy="502920"/>
          </a:xfrm>
          <a:prstGeom prst="rect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143560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water_stress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91840" y="1993392"/>
            <a:ext cx="265176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64992" y="2029968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INTEGER  PK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91840" y="2340864"/>
            <a:ext cx="26517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64992" y="2377440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country_id  FK →countries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91840" y="2688336"/>
            <a:ext cx="265176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64992" y="2724912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  INTEGER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91840" y="3035808"/>
            <a:ext cx="26517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64992" y="3072384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rainfall_mm  REAL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91840" y="3383280"/>
            <a:ext cx="265176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64992" y="3419856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population_millions  REAL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3730752"/>
            <a:ext cx="26517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64992" y="3767328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gdp_per_capita  REAL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91840" y="4078224"/>
            <a:ext cx="265176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64992" y="4114800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water_stress_score  REAL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91840" y="4425696"/>
            <a:ext cx="26517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64992" y="4462272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conflict_risk  REAL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00400" y="4462272"/>
            <a:ext cx="2834640" cy="384048"/>
          </a:xfrm>
          <a:prstGeom prst="rect">
            <a:avLst/>
          </a:prstGeom>
          <a:solidFill>
            <a:srgbClr val="0D4F8B">
              <a:alpha val="12000"/>
            </a:srgbClr>
          </a:solidFill>
          <a:ln w="12700">
            <a:solidFill>
              <a:srgbClr val="0D4F8B">
                <a:alpha val="4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91840" y="44805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readings. 120 rows (20 countries × 6 years).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172200" y="1389888"/>
            <a:ext cx="283464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72200" y="1389888"/>
            <a:ext cx="283464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63640" y="143560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predictions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263640" y="1993392"/>
            <a:ext cx="265176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36792" y="2029968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INTEGER  PK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263640" y="2340864"/>
            <a:ext cx="26517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36792" y="2377440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country_name  TEXT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263640" y="2688336"/>
            <a:ext cx="265176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36792" y="2724912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predicted_stress  REAL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263640" y="3035808"/>
            <a:ext cx="26517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36792" y="3072384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conflict_risk  REAL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263640" y="3383280"/>
            <a:ext cx="265176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36792" y="3419856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  TEXT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172200" y="4462272"/>
            <a:ext cx="2834640" cy="384048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63640" y="44805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prediction is logged here with timestamp.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|  TEAM CONTRIBUTIONS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Built What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389888"/>
            <a:ext cx="2834640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89888"/>
            <a:ext cx="2834640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43560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84048" y="1801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1435608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ML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" y="2267712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Random Forest prediction model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2679192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120 records — 20 countries × 6 years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3090672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85% R² accuracy on test data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" y="3502152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trained model as .pkl file for reuse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" y="3913632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feature importance analysis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" y="4325112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country-level predictions CSV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1389888"/>
            <a:ext cx="2834640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1389888"/>
            <a:ext cx="2834640" cy="777240"/>
          </a:xfrm>
          <a:prstGeom prst="rect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55848" y="143560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355848" y="1801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37560" y="1435608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UI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55848" y="2267712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interactive world map with Folium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55848" y="2679192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countries by stress level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55848" y="3090672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Clickable popups showing scores per country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55848" y="3502152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live prediction tool using Gradio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55848" y="3913632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app with public shareable URL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55848" y="4325112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data visualisation charts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1389888"/>
            <a:ext cx="2834640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17920" y="1389888"/>
            <a:ext cx="283464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27648" y="143560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327648" y="1801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09360" y="1435608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327648" y="2267712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3-table SQLite relational schema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27648" y="2679192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Inserted 120+ historical water stress records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27648" y="3090672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SQL queries for analysis &amp; reporting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27648" y="3502152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most stressed countries query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27648" y="3913632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averages aggregation query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27648" y="4325112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every model prediction with timestamp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|  FUTURE SCOPE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Would Build Next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2761488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89888"/>
            <a:ext cx="276148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499616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🛰️  Real NASA Satellite Data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29768" y="1892808"/>
            <a:ext cx="25420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in live GRACE satellite groundwater data and FAO AQUASTAT feeds for real-world accuracy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64408" y="1389888"/>
            <a:ext cx="2761488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64408" y="1389888"/>
            <a:ext cx="276148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74136" y="1499616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Time-Series Forecasting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374136" y="1892808"/>
            <a:ext cx="25420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to LSTM neural network to forecast water stress 5 years into the future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08776" y="1389888"/>
            <a:ext cx="2761488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08776" y="1389888"/>
            <a:ext cx="276148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18504" y="1499616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GIS &amp; Geospatial ML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18504" y="1892808"/>
            <a:ext cx="25420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Graph Neural Networks to model how water stress spreads across neighbouring regions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200400"/>
            <a:ext cx="2761488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200400"/>
            <a:ext cx="276148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3310128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Conflict Risk Alerts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29768" y="3703320"/>
            <a:ext cx="25420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alert system notifying NGOs when a region crosses critical stress threshold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64408" y="3200400"/>
            <a:ext cx="2761488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64408" y="3200400"/>
            <a:ext cx="276148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74136" y="3310128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App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374136" y="3703320"/>
            <a:ext cx="25420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dashboard to mobile for field agents and humanitarian workers in conflict zones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08776" y="3200400"/>
            <a:ext cx="2761488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08776" y="3200400"/>
            <a:ext cx="276148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18504" y="3310128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Global Scale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318504" y="3703320"/>
            <a:ext cx="25420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from 20 countries to all 195 nations using open World Bank and UN data feeds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38BDF8">
              <a:alpha val="12000"/>
            </a:srgbClr>
          </a:solidFill>
          <a:ln w="12700">
            <a:solidFill>
              <a:srgbClr val="38BDF8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|  CONCLUSION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7132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353312"/>
            <a:ext cx="7772400" cy="548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371600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Built a working ML model predicting water stress with 85% accuracy across 20 countries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2011680"/>
            <a:ext cx="7772400" cy="548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029968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Designed a 3-table relational database storing 120+ environmental records and all predictions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670048"/>
            <a:ext cx="7772400" cy="548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688336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Created an interactive world map and live prediction web app with a public demo link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3328416"/>
            <a:ext cx="7772400" cy="548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3346704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Connected a real global problem — water scarcity as a driver of armed conflict — to an ML solution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4160520"/>
            <a:ext cx="8321040" cy="68580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4187952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 "Early prediction is early protection. Our system turns data into action — before the next water crisis becomes the next conflict."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&amp; ML Based Water Stress Forecasting System</dc:title>
  <dc:subject>PptxGenJS Presentation</dc:subject>
  <dc:creator>PptxGenJS</dc:creator>
  <cp:lastModifiedBy>PptxGenJS</cp:lastModifiedBy>
  <cp:revision>1</cp:revision>
  <dcterms:created xsi:type="dcterms:W3CDTF">2026-05-25T04:37:41Z</dcterms:created>
  <dcterms:modified xsi:type="dcterms:W3CDTF">2026-05-25T04:37:41Z</dcterms:modified>
</cp:coreProperties>
</file>